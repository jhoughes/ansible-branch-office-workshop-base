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7"/>
    <p:sldId id="257" r:id="rId6"/>
    <p:sldId id="258" r:id="rId5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C2D19-0730-64B5-0129-8732EE7DB6CC}" v="123" dt="2025-10-13T14:42:52.300"/>
    <p1510:client id="{E04624FD-B794-4535-80F2-2C1BB0C1FAB3}" v="18" dt="2025-10-13T14:39:0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710" y="86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Space Grotesk"/>
              </a:rPr>
              <a:t>Building End-to-End Automation</a:t>
            </a:r>
          </a:p>
          <a:p>
            <a:r>
              <a:rPr sz="4400">
                <a:latin typeface="Space Grotesk"/>
              </a:rPr>
              <a:t>with Ansible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600" b="0" i="1">
                <a:solidFill>
                  <a:srgbClr val="1A1A4A"/>
                </a:solidFill>
                <a:latin typeface="Calibri"/>
              </a:rPr>
              <a:t>A Hands-On Workshop for Solving Real-World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532120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606070"/>
                </a:solidFill>
                <a:latin typeface="Calibri"/>
              </a:rPr>
              <a:t>Joe Houghes  ·  Mike Nelson  ·  @jhoughes  ·  @mnelson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Joe Houghes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0">
                <a:solidFill>
                  <a:srgbClr val="606070"/>
                </a:solidFill>
                <a:latin typeface="Calibri"/>
              </a:rPr>
              <a:t>Enterprise IT — Azure Stack, Cisco UCS, SCVMM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1A1A1A"/>
                </a:solidFill>
                <a:latin typeface="Calibri"/>
              </a:rPr>
              <a:t>Linux automation guy who lives in Microsoft shops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Mike Nelson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0">
                <a:solidFill>
                  <a:srgbClr val="606070"/>
                </a:solidFill>
                <a:latin typeface="Calibri"/>
              </a:rPr>
              <a:t>Microsoft MVP — Cloud + Datacenter, 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1A1A1A"/>
                </a:solidFill>
                <a:latin typeface="Calibri"/>
              </a:rPr>
              <a:t>Windows admin who learned to love Ansible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9418320" cy="36576"/>
          </a:xfrm>
          <a:prstGeom prst="rect">
            <a:avLst/>
          </a:prstGeom>
          <a:solidFill>
            <a:srgbClr val="29B6E1"/>
          </a:solidFill>
          <a:ln w="1270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0" i="1">
                <a:solidFill>
                  <a:srgbClr val="606070"/>
                </a:solidFill>
                <a:latin typeface="Calibri"/>
              </a:rPr>
              <a:t>Today's promise: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262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In 4 hours, you'll automate a hybrid Linux + Windows environment end-to-end.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The Scenario: New Branch Office Standup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1A1A1A"/>
                </a:solidFill>
                <a:latin typeface="Calibri"/>
              </a:rPr>
              <a:t>You just got the call. Corporate is opening a new branch office.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A1A4A"/>
                </a:solidFill>
                <a:latin typeface="Calibri"/>
              </a:rPr>
              <a:t>You need: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089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154679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Linux web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611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6576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Windows management host (admin tools, file share, users)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1148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1605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1A"/>
                </a:solidFill>
                <a:latin typeface="Calibri"/>
              </a:rPr>
              <a:t>Same security baseline applied to 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6634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1A"/>
                </a:solidFill>
                <a:latin typeface="Calibri"/>
              </a:rPr>
              <a:t>Repeatable for the next 50 branches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What You'll Build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3383280" cy="2926080"/>
          </a:xfrm>
          <a:prstGeom prst="rect">
            <a:avLst/>
          </a:prstGeom>
          <a:solidFill>
            <a:srgbClr val="F4F7FA"/>
          </a:solidFill>
          <a:ln w="1905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1A1A4A"/>
                </a:solidFill>
                <a:latin typeface="Calibri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606070"/>
                </a:solidFill>
                <a:latin typeface="Calibri"/>
              </a:rPr>
              <a:t>Ubuntu — public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Your Ansible control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only host you SSH into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Jump-box for everything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383280" cy="2926080"/>
          </a:xfrm>
          <a:prstGeom prst="rect">
            <a:avLst/>
          </a:prstGeom>
          <a:solidFill>
            <a:srgbClr val="F4F7FA"/>
          </a:solidFill>
          <a:ln w="1905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1A1A4A"/>
                </a:solidFill>
                <a:latin typeface="Calibri"/>
              </a:rPr>
              <a:t>web1 + web2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606070"/>
                </a:solidFill>
                <a:latin typeface="Calibri"/>
              </a:rPr>
              <a:t>Ubuntu —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nginx web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Jinja2-templated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Rolling deploys in 3.3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3383280" cy="2926080"/>
          </a:xfrm>
          <a:prstGeom prst="rect">
            <a:avLst/>
          </a:prstGeom>
          <a:solidFill>
            <a:srgbClr val="F4F7FA"/>
          </a:solidFill>
          <a:ln w="1905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423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1A1A4A"/>
                </a:solidFill>
                <a:latin typeface="Calibri"/>
              </a:rPr>
              <a:t>mgmt1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606070"/>
                </a:solidFill>
                <a:latin typeface="Calibri"/>
              </a:rPr>
              <a:t>Windows Server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Management 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Chocolatey-installed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Users, group, SMB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1">
                <a:solidFill>
                  <a:srgbClr val="606070"/>
                </a:solidFill>
                <a:latin typeface="Calibri"/>
              </a:rPr>
              <a:t>3 hosts per attendee  ·  Provisioned in Azure  ·  All you need is an SSH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Space Grotesk"/>
              </a:rPr>
              <a:t>1 —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749039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800" b="0" i="1">
                <a:solidFill>
                  <a:srgbClr val="29B6E1"/>
                </a:solidFill>
                <a:latin typeface="Calibri"/>
              </a:rPr>
              <a:t>0:00 – 1:00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Why Ansible — Three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4400" b="1" i="0">
                <a:solidFill>
                  <a:srgbClr val="29B6E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48839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Agentless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06039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Pure SSH (Linux) and WinRM (Windows). Nothing to install on managed hosts.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4400" b="1" i="0">
                <a:solidFill>
                  <a:srgbClr val="29B6E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4290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Declarative + Idempotent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862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You describe the desired state. Ansible figures out what to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4400" b="1" i="0">
                <a:solidFill>
                  <a:srgbClr val="29B6E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09159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Linux + Windows in one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166359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First-class Windows support, not an afterthought. You'll prove it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Your Lab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Pick up your attendee card at the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1A1A1A"/>
                </a:solidFill>
                <a:latin typeface="Calibri"/>
              </a:rPr>
              <a:t>It has your control node IP, your SSH password, and the Vault password.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46120"/>
            <a:ext cx="6400800" cy="2286000"/>
          </a:xfrm>
          <a:prstGeom prst="rect">
            <a:avLst/>
          </a:prstGeom>
          <a:solidFill>
            <a:srgbClr val="F4F7FA"/>
          </a:solidFill>
          <a:ln w="1270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3832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1">
                <a:solidFill>
                  <a:srgbClr val="606070"/>
                </a:solidFill>
                <a:latin typeface="Calibri"/>
              </a:rPr>
              <a:t>Workshop repo: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7947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A1A4A"/>
                </a:solidFill>
                <a:latin typeface="Consolas"/>
              </a:rPr>
              <a:t>github.com/jhoughes/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2519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A1A4A"/>
                </a:solidFill>
                <a:latin typeface="Consolas"/>
              </a:rPr>
              <a:t>ansible-branch-office-workshop-base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9834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06070"/>
                </a:solidFill>
                <a:latin typeface="Calibri"/>
              </a:rPr>
              <a:t>Already cloned at ~/workshop on your control node.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324612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160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400" b="0" i="1">
                <a:solidFill>
                  <a:srgbClr val="606070"/>
                </a:solidFill>
                <a:latin typeface="Calibri"/>
              </a:rPr>
              <a:t>[QR CODE]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5532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800" b="0" i="1">
                <a:solidFill>
                  <a:srgbClr val="606070"/>
                </a:solidFill>
                <a:latin typeface="Calibri"/>
              </a:rPr>
              <a:t>(replace with QR before workshop)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Ansible Fundamentals — The Speed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79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List of hosts and how to reach them. Static YAML or dynamic plugin.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79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An ordered list of tasks against an ordered list of hosts.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unit of work: install a package, write a file, start a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reusable bundle of tasks, variables, templates, and handlers.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Idempotency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Run twice, get the same result. The thing that makes safe automation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Information Ansible gathers about each host on connect.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Space Grotesk"/>
              </a:rPr>
              <a:t>2 — Core Roles &amp; Multi-Platform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749039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800" b="0" i="1">
                <a:solidFill>
                  <a:srgbClr val="29B6E1"/>
                </a:solidFill>
                <a:latin typeface="Calibri"/>
              </a:rPr>
              <a:t>1:00 – 2:00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2.1 — First Real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4A"/>
                </a:solidFill>
                <a:latin typeface="Calibri"/>
              </a:rPr>
              <a:t>Goal: install nginx + deploy a Jinja2-templated status page on web1.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41832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$ </a:t>
            </a:r>
            <a:r>
              <a:rPr sz="1300">
                <a:solidFill>
                  <a:srgbClr val="F0F0F0"/>
                </a:solidFill>
                <a:latin typeface="Consolas"/>
              </a:rPr>
              <a:t>cd ~/workshop</a:t>
            </a:r>
          </a:p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$ </a:t>
            </a:r>
            <a:r>
              <a:rPr sz="1300">
                <a:solidFill>
                  <a:srgbClr val="F0F0F0"/>
                </a:solidFill>
                <a:latin typeface="Consolas"/>
              </a:rPr>
              <a:t>ansible-playbook playbooks/02-web-tier.yml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606070"/>
                </a:solidFill>
                <a:latin typeface="Calibri"/>
              </a:rPr>
              <a:t>Open LAB-2.1.md for the step-by-step.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2.2 — Refactor Into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4A"/>
                </a:solidFill>
                <a:latin typeface="Calibri"/>
              </a:rPr>
              <a:t>Same behavior. Dramatically better organization.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1" i="0">
                <a:solidFill>
                  <a:srgbClr val="606070"/>
                </a:solidFill>
                <a:latin typeface="Calibri"/>
              </a:rPr>
              <a:t>Before (section 2.1):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54680"/>
            <a:ext cx="43891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246120"/>
            <a:ext cx="4114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playbooks/02-web-tier.yml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/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~80 lines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everything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1" i="0">
                <a:solidFill>
                  <a:srgbClr val="29B6E1"/>
                </a:solidFill>
                <a:latin typeface="Calibri"/>
              </a:rPr>
              <a:t>After (section 2.2):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154680"/>
            <a:ext cx="43891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246120"/>
            <a:ext cx="4114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playbooks/03-...-with-roles.yml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/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~10 lines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roles: [webserver]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606070"/>
                </a:solidFill>
                <a:latin typeface="Calibri"/>
              </a:rPr>
              <a:t>Open LAB-2.2.md for the side-by-side.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2.3 — PowerShell + Windows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1A1A4A"/>
                </a:solidFill>
                <a:latin typeface="Calibri"/>
              </a:rPr>
              <a:t>Watch a Linux control node manage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win_chocolatey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788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install VS Code, Notepad++, 7-Zip, PowerShell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429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win_user / win_group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74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create alice + bob, BranchOfficeIT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win_share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160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publish the BranchOfficeShared SMB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00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29B6E1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00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win_powershell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846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0" i="0">
                <a:solidFill>
                  <a:srgbClr val="1A1A1A"/>
                </a:solidFill>
                <a:latin typeface="Calibri"/>
              </a:rPr>
              <a:t>run YOUR PowerShell script, capture structured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Space Grotesk"/>
              </a:rPr>
              <a:t>3 — Security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749039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800" b="0" i="1">
                <a:solidFill>
                  <a:srgbClr val="29B6E1"/>
                </a:solidFill>
                <a:latin typeface="Calibri"/>
              </a:rPr>
              <a:t>2:10 – 3:10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3.1 — Hardening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1A1A4A"/>
                </a:solidFill>
                <a:latin typeface="Calibri"/>
              </a:rPr>
              <a:t>One role. Two operating systems. One 9-item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7614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Secure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03580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(SSH config / RDP NLA)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644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Disable root remote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767327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Remove unused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041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(telnet / SMBv1)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2702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Principle of least privilege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544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(logs / lockout policy)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7731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Automate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474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(unattended-upgrades / Windows Update)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614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Configure a firewall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03580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(ufw / Windows Firewall)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2644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538727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(rsyslog / Windows audit policy)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767327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Monitor login attempts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041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(fail2ban / password complexity)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51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2702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A1A4A"/>
                </a:solidFill>
                <a:latin typeface="Calibri"/>
              </a:rPr>
              <a:t>Mandatory access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544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06070"/>
                </a:solidFill>
                <a:latin typeface="Calibri"/>
              </a:rPr>
              <a:t>(AppArmor / UAC)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3.2 — Stop Putting Passwords in 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0" i="1">
                <a:solidFill>
                  <a:srgbClr val="606070"/>
                </a:solidFill>
                <a:latin typeface="Calibri"/>
              </a:rPr>
              <a:t>You've been editing a Windows password into a plaintext file all morning.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A1A4A"/>
                </a:solidFill>
                <a:latin typeface="Calibri"/>
              </a:rPr>
              <a:t>Time to fix that.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941832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38328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>
                <a:solidFill>
                  <a:srgbClr val="888888"/>
                </a:solidFill>
                <a:latin typeface="Consolas"/>
              </a:rPr>
              <a:t># inventory/group_vars/windows/vars.yml  (committed, plaintext)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ansible_password: </a:t>
            </a:r>
            <a:r>
              <a:rPr sz="1300">
                <a:solidFill>
                  <a:srgbClr val="29B6E1"/>
                </a:solidFill>
                <a:latin typeface="Consolas"/>
              </a:rPr>
              <a:t>"{{ vault_windows_admin_password }}"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/>
            </a:r>
          </a:p>
          <a:p>
            <a:pPr>
              <a:buNone/>
            </a:pPr>
            <a:r>
              <a:rPr sz="1300">
                <a:solidFill>
                  <a:srgbClr val="888888"/>
                </a:solidFill>
                <a:latin typeface="Consolas"/>
              </a:rPr>
              <a:t># inventory/group_vars/windows/vault.yml  (encrypted, git-ignored)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vault_windows_admin_password: </a:t>
            </a:r>
            <a:r>
              <a:rPr sz="1300">
                <a:solidFill>
                  <a:srgbClr val="29B6E1"/>
                </a:solidFill>
                <a:latin typeface="Consolas"/>
              </a:rPr>
              <a:t>"&lt;the actual password&gt;"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1">
                <a:solidFill>
                  <a:srgbClr val="606070"/>
                </a:solidFill>
                <a:latin typeface="Calibri"/>
              </a:rPr>
              <a:t>Vault password for today: on your card AND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Today's Workshop Vault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400" b="0" i="1">
                <a:solidFill>
                  <a:srgbClr val="606070"/>
                </a:solidFill>
                <a:latin typeface="Calibri"/>
              </a:rPr>
              <a:t>Put this in .vault-pass on your control node: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26080"/>
            <a:ext cx="7589520" cy="1463040"/>
          </a:xfrm>
          <a:prstGeom prst="rect">
            <a:avLst/>
          </a:prstGeom>
          <a:solidFill>
            <a:srgbClr val="FFFFFF"/>
          </a:solidFill>
          <a:ln w="3810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4612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3000" b="1" i="0">
                <a:solidFill>
                  <a:srgbClr val="1A1A4A"/>
                </a:solidFill>
                <a:latin typeface="Consolas"/>
              </a:rPr>
              <a:t>POWERSHELL&amp;DEVOPS_SUMMIT_2026!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2336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606070"/>
                </a:solidFill>
                <a:latin typeface="Calibri"/>
              </a:rPr>
              <a:t>(same password for everyone — also on your card)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100" b="0" i="1">
                <a:solidFill>
                  <a:srgbClr val="606070"/>
                </a:solidFill>
                <a:latin typeface="Calibri"/>
              </a:rPr>
              <a:t>In production: per-attendee passwords or external secret store (HashiCorp Vault, AWS Secrets Manager, Azure Key Vault).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3.3 — Rolling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4A"/>
                </a:solidFill>
                <a:latin typeface="Calibri"/>
              </a:rPr>
              <a:t>Deploy to one host at a time. Health-check before moving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4183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9144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- name: Rolling deploy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>  hosts: webservers</a:t>
            </a:r>
          </a:p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  serial: 1                    </a:t>
            </a:r>
            <a:r>
              <a:rPr sz="1300">
                <a:solidFill>
                  <a:srgbClr val="888888"/>
                </a:solidFill>
                <a:latin typeface="Consolas"/>
              </a:rPr>
              <a:t># one host at a time</a:t>
            </a:r>
          </a:p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  max_fail_percentage: 0       </a:t>
            </a:r>
            <a:r>
              <a:rPr sz="1300">
                <a:solidFill>
                  <a:srgbClr val="888888"/>
                </a:solidFill>
                <a:latin typeface="Consolas"/>
              </a:rPr>
              <a:t># stop on ANY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1">
                <a:solidFill>
                  <a:srgbClr val="1A1A1A"/>
                </a:solidFill>
                <a:latin typeface="Calibri"/>
              </a:rPr>
              <a:t>pre_tasks: drain from LB  →  roles: [webserver]  →  post_tasks: health check + return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Space Grotesk"/>
              </a:rPr>
              <a:t>4 — Production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749039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800" b="0" i="1">
                <a:solidFill>
                  <a:srgbClr val="29B6E1"/>
                </a:solidFill>
                <a:latin typeface="Calibri"/>
              </a:rPr>
              <a:t>3:10 – 4:00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4.1 — Testing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0">
                <a:solidFill>
                  <a:srgbClr val="1A1A4A"/>
                </a:solidFill>
                <a:latin typeface="Calibri"/>
              </a:rPr>
              <a:t>Five flags that solve &gt;90% of broken playbooks: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--check --diff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What WOULD this do? Show me the diffs.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-vvv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Verbose enough to see SSH/WinRM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--start-at-task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Skip to where you got stuck.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--step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Walk one task at a time, interactively.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onsolas"/>
              </a:rPr>
              <a:t>--syntax-check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Validate YAML and module names without running.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4.3 — Capstone: site.yml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1A1A4A"/>
                </a:solidFill>
                <a:latin typeface="Calibri"/>
              </a:rPr>
              <a:t>One playbook. One command. Entire branch office, end to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41832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9144000" cy="2011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$ </a:t>
            </a:r>
            <a:r>
              <a:rPr sz="1300">
                <a:solidFill>
                  <a:srgbClr val="F0F0F0"/>
                </a:solidFill>
                <a:latin typeface="Consolas"/>
              </a:rPr>
              <a:t>ansible-playbook playbooks/site.yml</a:t>
            </a:r>
          </a:p>
          <a:p>
            <a:pPr>
              <a:buNone/>
            </a:pPr>
            <a:r>
              <a:rPr sz="1300">
                <a:solidFill>
                  <a:srgbClr val="F0F0F0"/>
                </a:solidFill>
                <a:latin typeface="Consolas"/>
              </a:rPr>
              <a:t/>
            </a:r>
          </a:p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Phase 1: </a:t>
            </a:r>
            <a:r>
              <a:rPr sz="1300">
                <a:solidFill>
                  <a:srgbClr val="F0F0F0"/>
                </a:solidFill>
                <a:latin typeface="Consolas"/>
              </a:rPr>
              <a:t>webserver role  →  webservers (web1, web2)</a:t>
            </a:r>
          </a:p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Phase 2: </a:t>
            </a:r>
            <a:r>
              <a:rPr sz="1300">
                <a:solidFill>
                  <a:srgbClr val="F0F0F0"/>
                </a:solidFill>
                <a:latin typeface="Consolas"/>
              </a:rPr>
              <a:t>windows-mgmt role  →  mgmt1</a:t>
            </a:r>
          </a:p>
          <a:p>
            <a:pPr>
              <a:buNone/>
            </a:pPr>
            <a:r>
              <a:rPr sz="1300">
                <a:solidFill>
                  <a:srgbClr val="29B6E1"/>
                </a:solidFill>
                <a:latin typeface="Consolas"/>
              </a:rPr>
              <a:t>Phase 3: </a:t>
            </a:r>
            <a:r>
              <a:rPr sz="1300">
                <a:solidFill>
                  <a:srgbClr val="F0F0F0"/>
                </a:solidFill>
                <a:latin typeface="Consolas"/>
              </a:rPr>
              <a:t>hardening role  →  branch_office (all hosts)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1A1A1A"/>
                </a:solidFill>
                <a:latin typeface="Calibri"/>
              </a:rPr>
              <a:t>This is what you'd commit to git. This is what runs in CI. This is the goal.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Space Grotesk"/>
              </a:rPr>
              <a:t>Where to Go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Ansible: Up and Running (3rd ed.) — Hochstein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Ansible for DevOps — Geerling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Practical Ansible — Sebbar/Ehgartner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Video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Ansible 101 — Jeff Geerling (free, 15 ep.)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Getting Started with Ansible — Learn Linux 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Conference talks linked in repo's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Community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geerlingguy.* on Galaxy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dev-sec.ansible-collection-hardening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03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community.windows / chocolatey.chocolatey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29B6E1"/>
                </a:solidFill>
                <a:latin typeface="Calibri"/>
              </a:rPr>
              <a:t>Production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Run AWX or Ansible Automation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Switch to dynamic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03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Add Molecule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669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External secret stores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Space Grotesk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800" b="0" i="1">
                <a:solidFill>
                  <a:srgbClr val="1A1A4A"/>
                </a:solidFill>
                <a:latin typeface="Calibri"/>
              </a:rPr>
              <a:t>You just built a hybrid Linux + Windows automated environment, end to end, in 4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Take the repo. Run the lab again at home. Use the patterns at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297680"/>
            <a:ext cx="7589520" cy="914400"/>
          </a:xfrm>
          <a:prstGeom prst="rect">
            <a:avLst/>
          </a:prstGeom>
          <a:solidFill>
            <a:srgbClr val="F4F7FA"/>
          </a:solidFill>
          <a:ln w="25400">
            <a:solidFill>
              <a:srgbClr val="2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5262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4A"/>
                </a:solidFill>
                <a:latin typeface="Consolas"/>
              </a:rPr>
              <a:t>github.com/jhoughes/ansible-branch-office-workshop-base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606070"/>
                </a:solidFill>
                <a:latin typeface="Calibri"/>
              </a:rPr>
              <a:t>Joe Houghes  ·  Mike Nelson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4" ma:contentTypeDescription="Create a new document." ma:contentTypeScope="" ma:versionID="b76abc03e553526702f85a8d844c9122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87444cf601e289e5bece5546c2dc3f6d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06EE50-1D82-46FC-9C08-78DA96263726}">
  <ds:schemaRefs>
    <ds:schemaRef ds:uri="5716c540-f2cb-4866-ac44-22c3da4c8498"/>
    <ds:schemaRef ds:uri="ca649edd-3005-4233-a3e7-8a8d225fe9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Joe Houghes</cp:lastModifiedBy>
  <cp:revision>4</cp:revision>
  <dcterms:created xsi:type="dcterms:W3CDTF">2022-12-09T06:31:24Z</dcterms:created>
  <dcterms:modified xsi:type="dcterms:W3CDTF">2026-01-12T17:48:55Z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